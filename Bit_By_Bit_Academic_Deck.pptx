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224"/>
        </a:solidFill>
        <a:effectLst/>
      </p:bgPr>
    </p:bg>
    <p:spTree>
      <p:nvGrpSpPr>
        <p:cNvPr id="1" name=""/>
        <p:cNvGrpSpPr/>
        <p:nvPr/>
      </p:nvGrpSpPr>
      <p:grpSpPr/>
      <p:sp>
        <p:nvSpPr>
          <p:cNvPr id="2" name="TextBox 1"/>
          <p:cNvSpPr txBox="1"/>
          <p:nvPr/>
        </p:nvSpPr>
        <p:spPr>
          <a:xfrm>
            <a:off x="914400" y="1645920"/>
            <a:ext cx="10332720" cy="4114800"/>
          </a:xfrm>
          <a:prstGeom prst="rect">
            <a:avLst/>
          </a:prstGeom>
          <a:noFill/>
        </p:spPr>
        <p:txBody>
          <a:bodyPr wrap="square">
            <a:spAutoFit/>
          </a:bodyPr>
          <a:lstStyle/>
          <a:p>
            <a:pPr>
              <a:defRPr sz="5600" b="1">
                <a:solidFill>
                  <a:srgbClr val="F8FAFC"/>
                </a:solidFill>
              </a:defRPr>
            </a:pPr>
            <a:r>
              <a:t>BIT BY BIT WEALTH</a:t>
            </a:r>
          </a:p>
          <a:p>
            <a:pPr>
              <a:spcBef>
                <a:spcPts val="1000"/>
              </a:spcBef>
              <a:defRPr sz="1600">
                <a:solidFill>
                  <a:srgbClr val="38BDF8"/>
                </a:solidFill>
              </a:defRPr>
            </a:pPr>
            <a:r>
              <a:t>Full Name :  Tanmay</a:t>
            </a:r>
          </a:p>
          <a:p>
            <a:pPr>
              <a:spcBef>
                <a:spcPts val="1000"/>
              </a:spcBef>
              <a:defRPr sz="1600">
                <a:solidFill>
                  <a:srgbClr val="38BDF8"/>
                </a:solidFill>
              </a:defRPr>
            </a:pPr>
            <a:r>
              <a:t>Registered Mail ID :  tanmay@projectdomain.com</a:t>
            </a:r>
          </a:p>
          <a:p>
            <a:pPr>
              <a:spcBef>
                <a:spcPts val="1000"/>
              </a:spcBef>
              <a:defRPr sz="1600">
                <a:solidFill>
                  <a:srgbClr val="38BDF8"/>
                </a:solidFill>
              </a:defRPr>
            </a:pPr>
            <a:r>
              <a:t>College Name :  Tech Institute of Engineering</a:t>
            </a:r>
          </a:p>
          <a:p>
            <a:pPr>
              <a:spcBef>
                <a:spcPts val="1000"/>
              </a:spcBef>
              <a:defRPr sz="1600">
                <a:solidFill>
                  <a:srgbClr val="38BDF8"/>
                </a:solidFill>
              </a:defRPr>
            </a:pPr>
            <a:r>
              <a:t>Mob No. :  +91 98765 43210</a:t>
            </a:r>
          </a:p>
          <a:p>
            <a:pPr>
              <a:spcBef>
                <a:spcPts val="1000"/>
              </a:spcBef>
              <a:defRPr sz="1600">
                <a:solidFill>
                  <a:srgbClr val="38BDF8"/>
                </a:solidFill>
              </a:defRPr>
            </a:pPr>
            <a:r>
              <a:t>IBM SkillsBuild platform mail ID :  tanmay.skillsbuild@ibm.com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22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sz="3200" b="1">
                <a:solidFill>
                  <a:srgbClr val="38BDF8"/>
                </a:solidFill>
                <a:latin typeface="Arial"/>
              </a:defRPr>
            </a:pPr>
            <a:r>
              <a:t>Introduction:</a:t>
            </a:r>
          </a:p>
        </p:txBody>
      </p:sp>
      <p:sp>
        <p:nvSpPr>
          <p:cNvPr id="3" name="TextBox 2"/>
          <p:cNvSpPr txBox="1"/>
          <p:nvPr/>
        </p:nvSpPr>
        <p:spPr>
          <a:xfrm>
            <a:off x="731520" y="1463040"/>
            <a:ext cx="10698480" cy="4572000"/>
          </a:xfrm>
          <a:prstGeom prst="rect">
            <a:avLst/>
          </a:prstGeom>
          <a:noFill/>
        </p:spPr>
        <p:txBody>
          <a:bodyPr wrap="square">
            <a:spAutoFit/>
          </a:bodyPr>
          <a:lstStyle/>
          <a:p/>
          <a:p>
            <a:pPr>
              <a:spcBef>
                <a:spcPts val="1200"/>
              </a:spcBef>
              <a:defRPr sz="2000" b="1">
                <a:solidFill>
                  <a:srgbClr val="38BDF8"/>
                </a:solidFill>
              </a:defRPr>
            </a:pPr>
            <a:r>
              <a:t>Financial Advisory Overview:</a:t>
            </a:r>
          </a:p>
          <a:p>
            <a:pPr>
              <a:spcBef>
                <a:spcPts val="400"/>
              </a:spcBef>
              <a:defRPr sz="1500">
                <a:solidFill>
                  <a:srgbClr val="F8FAFC"/>
                </a:solidFill>
              </a:defRPr>
            </a:pPr>
            <a:r>
              <a:t>•  A personal finance optimization engine providing tailored plans.</a:t>
            </a:r>
          </a:p>
          <a:p>
            <a:pPr>
              <a:spcBef>
                <a:spcPts val="400"/>
              </a:spcBef>
              <a:defRPr sz="1500">
                <a:solidFill>
                  <a:srgbClr val="F8FAFC"/>
                </a:solidFill>
              </a:defRPr>
            </a:pPr>
            <a:r>
              <a:t>•  Helps individuals restructure cash flows, optimize savings, and build wealth.</a:t>
            </a:r>
          </a:p>
          <a:p>
            <a:pPr>
              <a:spcBef>
                <a:spcPts val="1200"/>
              </a:spcBef>
              <a:defRPr sz="2000" b="1">
                <a:solidFill>
                  <a:srgbClr val="38BDF8"/>
                </a:solidFill>
              </a:defRPr>
            </a:pPr>
            <a:r>
              <a:t>Current Challenges:</a:t>
            </a:r>
          </a:p>
          <a:p>
            <a:pPr>
              <a:spcBef>
                <a:spcPts val="400"/>
              </a:spcBef>
              <a:defRPr sz="1500">
                <a:solidFill>
                  <a:srgbClr val="F8FAFC"/>
                </a:solidFill>
              </a:defRPr>
            </a:pPr>
            <a:r>
              <a:t>•  Traditional financial advisors charge high fees, out of reach for average earners.</a:t>
            </a:r>
          </a:p>
          <a:p>
            <a:pPr>
              <a:spcBef>
                <a:spcPts val="400"/>
              </a:spcBef>
              <a:defRPr sz="1500">
                <a:solidFill>
                  <a:srgbClr val="F8FAFC"/>
                </a:solidFill>
              </a:defRPr>
            </a:pPr>
            <a:r>
              <a:t>•  Traditional plans are static PDFs; they don't adapt to life budget changes.</a:t>
            </a:r>
          </a:p>
          <a:p>
            <a:pPr>
              <a:spcBef>
                <a:spcPts val="1200"/>
              </a:spcBef>
              <a:defRPr sz="2000" b="1">
                <a:solidFill>
                  <a:srgbClr val="38BDF8"/>
                </a:solidFill>
              </a:defRPr>
            </a:pPr>
            <a:r>
              <a:t>Potential Solution:</a:t>
            </a:r>
          </a:p>
          <a:p>
            <a:pPr>
              <a:spcBef>
                <a:spcPts val="400"/>
              </a:spcBef>
              <a:defRPr sz="1500">
                <a:solidFill>
                  <a:srgbClr val="F8FAFC"/>
                </a:solidFill>
              </a:defRPr>
            </a:pPr>
            <a:r>
              <a:t>•  An autonomous multi-agent planner using LangGraph to adjust recommendations in real-time.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22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sz="3200" b="1">
                <a:solidFill>
                  <a:srgbClr val="38BDF8"/>
                </a:solidFill>
                <a:latin typeface="Arial"/>
              </a:defRPr>
            </a:pPr>
            <a:r>
              <a:t>Problem Statement:</a:t>
            </a:r>
          </a:p>
        </p:txBody>
      </p:sp>
      <p:sp>
        <p:nvSpPr>
          <p:cNvPr id="3" name="TextBox 2"/>
          <p:cNvSpPr txBox="1"/>
          <p:nvPr/>
        </p:nvSpPr>
        <p:spPr>
          <a:xfrm>
            <a:off x="731520" y="1463040"/>
            <a:ext cx="10698480" cy="4572000"/>
          </a:xfrm>
          <a:prstGeom prst="rect">
            <a:avLst/>
          </a:prstGeom>
          <a:noFill/>
        </p:spPr>
        <p:txBody>
          <a:bodyPr wrap="square">
            <a:spAutoFit/>
          </a:bodyPr>
          <a:lstStyle/>
          <a:p/>
          <a:p>
            <a:pPr>
              <a:defRPr sz="2200" b="1">
                <a:solidFill>
                  <a:srgbClr val="38BDF8"/>
                </a:solidFill>
              </a:defRPr>
            </a:pPr>
            <a:r>
              <a:t>Objective:</a:t>
            </a:r>
          </a:p>
          <a:p>
            <a:pPr>
              <a:spcBef>
                <a:spcPts val="600"/>
              </a:spcBef>
              <a:defRPr sz="1600">
                <a:solidFill>
                  <a:srgbClr val="F8FAFC"/>
                </a:solidFill>
              </a:defRPr>
            </a:pPr>
            <a:r>
              <a:t>Develop a machine learning and state graph system to dynamically evaluate personal finance indicators (income, expenses, liabilities) and route user cash flow profiles to specialized advisory pipelines.</a:t>
            </a:r>
          </a:p>
          <a:p>
            <a:pPr>
              <a:spcBef>
                <a:spcPts val="1600"/>
              </a:spcBef>
              <a:defRPr sz="2200" b="1">
                <a:solidFill>
                  <a:srgbClr val="38BDF8"/>
                </a:solidFill>
              </a:defRPr>
            </a:pPr>
            <a:r>
              <a:t>Specific Goals:</a:t>
            </a:r>
          </a:p>
          <a:p>
            <a:pPr>
              <a:spcBef>
                <a:spcPts val="400"/>
              </a:spcBef>
              <a:defRPr sz="1400">
                <a:solidFill>
                  <a:srgbClr val="F8FAFC"/>
                </a:solidFill>
              </a:defRPr>
            </a:pPr>
            <a:r>
              <a:t>•  Data Collection: Form inputs gathering key variables (Income, Expenses, Overall Debt).</a:t>
            </a:r>
          </a:p>
          <a:p>
            <a:pPr>
              <a:spcBef>
                <a:spcPts val="400"/>
              </a:spcBef>
              <a:defRPr sz="1400">
                <a:solidFill>
                  <a:srgbClr val="F8FAFC"/>
                </a:solidFill>
              </a:defRPr>
            </a:pPr>
            <a:r>
              <a:t>•  Feature Routing: Evaluates cash flow surplus ratios dynamically.</a:t>
            </a:r>
          </a:p>
          <a:p>
            <a:pPr>
              <a:spcBef>
                <a:spcPts val="400"/>
              </a:spcBef>
              <a:defRPr sz="1400">
                <a:solidFill>
                  <a:srgbClr val="F8FAFC"/>
                </a:solidFill>
              </a:defRPr>
            </a:pPr>
            <a:r>
              <a:t>•  Model Development: LangGraph routing nodes for specialized plans (Recovery, Conservative, Aggressive).</a:t>
            </a:r>
          </a:p>
          <a:p>
            <a:pPr>
              <a:spcBef>
                <a:spcPts val="400"/>
              </a:spcBef>
              <a:defRPr sz="1400">
                <a:solidFill>
                  <a:srgbClr val="F8FAFC"/>
                </a:solidFill>
              </a:defRPr>
            </a:pPr>
            <a:r>
              <a:t>•  System Evaluation: Assessing response latency, intake completion rates, and client satisfaction.</a:t>
            </a:r>
          </a:p>
          <a:p>
            <a:pPr>
              <a:spcBef>
                <a:spcPts val="400"/>
              </a:spcBef>
              <a:defRPr sz="1400">
                <a:solidFill>
                  <a:srgbClr val="F8FAFC"/>
                </a:solidFill>
              </a:defRPr>
            </a:pPr>
            <a:r>
              <a:t>•  Implementation and Validation: Deploying the FastAPI local server with a glassmorphic dashboard.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22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sz="3200" b="1">
                <a:solidFill>
                  <a:srgbClr val="38BDF8"/>
                </a:solidFill>
                <a:latin typeface="Arial"/>
              </a:defRPr>
            </a:pPr>
            <a:r>
              <a:t>Sustainable Development Goal:</a:t>
            </a:r>
          </a:p>
        </p:txBody>
      </p:sp>
      <p:sp>
        <p:nvSpPr>
          <p:cNvPr id="3" name="TextBox 2"/>
          <p:cNvSpPr txBox="1"/>
          <p:nvPr/>
        </p:nvSpPr>
        <p:spPr>
          <a:xfrm>
            <a:off x="731520" y="1463040"/>
            <a:ext cx="10698480" cy="4572000"/>
          </a:xfrm>
          <a:prstGeom prst="rect">
            <a:avLst/>
          </a:prstGeom>
          <a:noFill/>
        </p:spPr>
        <p:txBody>
          <a:bodyPr wrap="square">
            <a:spAutoFit/>
          </a:bodyPr>
          <a:lstStyle/>
          <a:p/>
          <a:p>
            <a:pPr>
              <a:defRPr sz="2200" b="1">
                <a:solidFill>
                  <a:srgbClr val="38BDF8"/>
                </a:solidFill>
              </a:defRPr>
            </a:pPr>
            <a:r>
              <a:t>Goal Chosen: SDG 8 - Decent Work and Economic Growth</a:t>
            </a:r>
          </a:p>
          <a:p>
            <a:pPr>
              <a:spcBef>
                <a:spcPts val="1200"/>
              </a:spcBef>
              <a:defRPr sz="1800" b="1">
                <a:solidFill>
                  <a:srgbClr val="FBBF24"/>
                </a:solidFill>
              </a:defRPr>
            </a:pPr>
            <a:r>
              <a:t>●  Problem Statement:</a:t>
            </a:r>
          </a:p>
          <a:p>
            <a:pPr>
              <a:spcBef>
                <a:spcPts val="400"/>
              </a:spcBef>
              <a:defRPr sz="1500">
                <a:solidFill>
                  <a:srgbClr val="F8FAFC"/>
                </a:solidFill>
              </a:defRPr>
            </a:pPr>
            <a:r>
              <a:t>   Democratizing access to high-quality financial education and wealth management advice to prevent wealth inequalities and personal debt traps.</a:t>
            </a:r>
          </a:p>
          <a:p>
            <a:pPr>
              <a:spcBef>
                <a:spcPts val="1400"/>
              </a:spcBef>
              <a:defRPr sz="1800" b="1">
                <a:solidFill>
                  <a:srgbClr val="FBBF24"/>
                </a:solidFill>
              </a:defRPr>
            </a:pPr>
            <a:r>
              <a:t>●  Rationale:</a:t>
            </a:r>
          </a:p>
          <a:p>
            <a:pPr>
              <a:spcBef>
                <a:spcPts val="400"/>
              </a:spcBef>
              <a:defRPr sz="1500">
                <a:solidFill>
                  <a:srgbClr val="F8FAFC"/>
                </a:solidFill>
              </a:defRPr>
            </a:pPr>
            <a:r>
              <a:t>   Traditional financial advisory is closed to low-income brackets, worsening economic inequalities. Providing an automated, free cash flow optimization agent directly drives regional savings optimization and financial stability.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22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sz="3200" b="1">
                <a:solidFill>
                  <a:srgbClr val="38BDF8"/>
                </a:solidFill>
                <a:latin typeface="Arial"/>
              </a:defRPr>
            </a:pPr>
            <a:r>
              <a:t>Data Collection and Preprocessing:</a:t>
            </a:r>
          </a:p>
        </p:txBody>
      </p:sp>
      <p:sp>
        <p:nvSpPr>
          <p:cNvPr id="3" name="TextBox 2"/>
          <p:cNvSpPr txBox="1"/>
          <p:nvPr/>
        </p:nvSpPr>
        <p:spPr>
          <a:xfrm>
            <a:off x="731520" y="1463040"/>
            <a:ext cx="10698480" cy="4572000"/>
          </a:xfrm>
          <a:prstGeom prst="rect">
            <a:avLst/>
          </a:prstGeom>
          <a:noFill/>
        </p:spPr>
        <p:txBody>
          <a:bodyPr wrap="square">
            <a:spAutoFit/>
          </a:bodyPr>
          <a:lstStyle/>
          <a:p/>
          <a:p>
            <a:pPr>
              <a:spcBef>
                <a:spcPts val="1000"/>
              </a:spcBef>
              <a:defRPr sz="1800" b="1">
                <a:solidFill>
                  <a:srgbClr val="38BDF8"/>
                </a:solidFill>
              </a:defRPr>
            </a:pPr>
            <a:r>
              <a:t>Data Collection:</a:t>
            </a:r>
          </a:p>
          <a:p>
            <a:pPr>
              <a:spcBef>
                <a:spcPts val="300"/>
              </a:spcBef>
              <a:defRPr sz="1400">
                <a:solidFill>
                  <a:srgbClr val="F8FAFC"/>
                </a:solidFill>
              </a:defRPr>
            </a:pPr>
            <a:r>
              <a:t>•  Onboarding form gathering client demographics: Full Name, Age.</a:t>
            </a:r>
          </a:p>
          <a:p>
            <a:pPr>
              <a:spcBef>
                <a:spcPts val="300"/>
              </a:spcBef>
              <a:defRPr sz="1400">
                <a:solidFill>
                  <a:srgbClr val="F8FAFC"/>
                </a:solidFill>
              </a:defRPr>
            </a:pPr>
            <a:r>
              <a:t>•  Financial values: Monthly Income, Monthly Expenses, Overall Debt, Rent, and Emergency Fund reserves.</a:t>
            </a:r>
          </a:p>
          <a:p>
            <a:pPr>
              <a:spcBef>
                <a:spcPts val="1000"/>
              </a:spcBef>
              <a:defRPr sz="1800" b="1">
                <a:solidFill>
                  <a:srgbClr val="38BDF8"/>
                </a:solidFill>
              </a:defRPr>
            </a:pPr>
            <a:r>
              <a:t>Preprocessing &amp; Validation:</a:t>
            </a:r>
          </a:p>
          <a:p>
            <a:pPr>
              <a:spcBef>
                <a:spcPts val="300"/>
              </a:spcBef>
              <a:defRPr sz="1400">
                <a:solidFill>
                  <a:srgbClr val="F8FAFC"/>
                </a:solidFill>
              </a:defRPr>
            </a:pPr>
            <a:r>
              <a:t>•  Input verification using Pydantic models to assert non-negative numeric constraints.</a:t>
            </a:r>
          </a:p>
          <a:p>
            <a:pPr>
              <a:spcBef>
                <a:spcPts val="300"/>
              </a:spcBef>
              <a:defRPr sz="1400">
                <a:solidFill>
                  <a:srgbClr val="F8FAFC"/>
                </a:solidFill>
              </a:defRPr>
            </a:pPr>
            <a:r>
              <a:t>•  Live client-side sanitization of numbers with fallback state configurations.</a:t>
            </a:r>
          </a:p>
          <a:p>
            <a:pPr>
              <a:spcBef>
                <a:spcPts val="1000"/>
              </a:spcBef>
              <a:defRPr sz="1800" b="1">
                <a:solidFill>
                  <a:srgbClr val="38BDF8"/>
                </a:solidFill>
              </a:defRPr>
            </a:pPr>
            <a:r>
              <a:t>Feature Selection &amp; Engineering:</a:t>
            </a:r>
          </a:p>
          <a:p>
            <a:pPr>
              <a:spcBef>
                <a:spcPts val="300"/>
              </a:spcBef>
              <a:defRPr sz="1400">
                <a:solidFill>
                  <a:srgbClr val="F8FAFC"/>
                </a:solidFill>
              </a:defRPr>
            </a:pPr>
            <a:r>
              <a:t>•  Calculating Net Surplus = Monthly Income - Monthly Expenses.</a:t>
            </a:r>
          </a:p>
          <a:p>
            <a:pPr>
              <a:spcBef>
                <a:spcPts val="300"/>
              </a:spcBef>
              <a:defRPr sz="1400">
                <a:solidFill>
                  <a:srgbClr val="F8FAFC"/>
                </a:solidFill>
              </a:defRPr>
            </a:pPr>
            <a:r>
              <a:t>•  Classifying profile risk bearing capabilities using '100 minus Age' benchmark logic.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22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sz="3200" b="1">
                <a:solidFill>
                  <a:srgbClr val="38BDF8"/>
                </a:solidFill>
                <a:latin typeface="Arial"/>
              </a:defRPr>
            </a:pPr>
            <a:r>
              <a:t>Model Development:</a:t>
            </a:r>
          </a:p>
        </p:txBody>
      </p:sp>
      <p:sp>
        <p:nvSpPr>
          <p:cNvPr id="3" name="TextBox 2"/>
          <p:cNvSpPr txBox="1"/>
          <p:nvPr/>
        </p:nvSpPr>
        <p:spPr>
          <a:xfrm>
            <a:off x="731520" y="1463040"/>
            <a:ext cx="10698480" cy="4572000"/>
          </a:xfrm>
          <a:prstGeom prst="rect">
            <a:avLst/>
          </a:prstGeom>
          <a:noFill/>
        </p:spPr>
        <p:txBody>
          <a:bodyPr wrap="square">
            <a:spAutoFit/>
          </a:bodyPr>
          <a:lstStyle/>
          <a:p/>
          <a:p>
            <a:pPr>
              <a:spcBef>
                <a:spcPts val="1000"/>
              </a:spcBef>
              <a:defRPr sz="1800" b="1">
                <a:solidFill>
                  <a:srgbClr val="FBBF24"/>
                </a:solidFill>
              </a:defRPr>
            </a:pPr>
            <a:r>
              <a:t>Algorithm &amp; Framework Used:</a:t>
            </a:r>
          </a:p>
          <a:p>
            <a:pPr>
              <a:spcBef>
                <a:spcPts val="300"/>
              </a:spcBef>
              <a:defRPr sz="1400">
                <a:solidFill>
                  <a:srgbClr val="F8FAFC"/>
                </a:solidFill>
              </a:defRPr>
            </a:pPr>
            <a:r>
              <a:t>•  LangGraph (StateGraph) Framework: Coordinates conversations, state updates, and routes execution through a directed graph.</a:t>
            </a:r>
          </a:p>
          <a:p>
            <a:pPr>
              <a:spcBef>
                <a:spcPts val="300"/>
              </a:spcBef>
              <a:defRPr sz="1400">
                <a:solidFill>
                  <a:srgbClr val="F8FAFC"/>
                </a:solidFill>
              </a:defRPr>
            </a:pPr>
            <a:r>
              <a:t>•  Groq Cloud API with Llama-3.3-70B model: Analyzes chat history and generates structured wealth audits.</a:t>
            </a:r>
          </a:p>
          <a:p>
            <a:pPr>
              <a:spcBef>
                <a:spcPts val="1000"/>
              </a:spcBef>
              <a:defRPr sz="1800" b="1">
                <a:solidFill>
                  <a:srgbClr val="FBBF24"/>
                </a:solidFill>
              </a:defRPr>
            </a:pPr>
            <a:r>
              <a:t>Model Training &amp; Prompt Optimization:</a:t>
            </a:r>
          </a:p>
          <a:p>
            <a:pPr>
              <a:spcBef>
                <a:spcPts val="300"/>
              </a:spcBef>
              <a:defRPr sz="1400">
                <a:solidFill>
                  <a:srgbClr val="F8FAFC"/>
                </a:solidFill>
              </a:defRPr>
            </a:pPr>
            <a:r>
              <a:t>•  Hyperparameter Optimization: Restricting prompt configurations to strictly enforce 1-2 sentence concise limits, preventing default AI boilerplate filler.</a:t>
            </a:r>
          </a:p>
          <a:p>
            <a:pPr>
              <a:spcBef>
                <a:spcPts val="300"/>
              </a:spcBef>
              <a:defRPr sz="1400">
                <a:solidFill>
                  <a:srgbClr val="F8FAFC"/>
                </a:solidFill>
              </a:defRPr>
            </a:pPr>
            <a:r>
              <a:t>•  Routing Nodes: Conditional state edges evaluating metrics dynamically to map users to expert branches.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22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sz="3200" b="1">
                <a:solidFill>
                  <a:srgbClr val="38BDF8"/>
                </a:solidFill>
                <a:latin typeface="Arial"/>
              </a:defRPr>
            </a:pPr>
            <a:r>
              <a:t>Model Evaluation:</a:t>
            </a:r>
          </a:p>
        </p:txBody>
      </p:sp>
      <p:sp>
        <p:nvSpPr>
          <p:cNvPr id="3" name="TextBox 2"/>
          <p:cNvSpPr txBox="1"/>
          <p:nvPr/>
        </p:nvSpPr>
        <p:spPr>
          <a:xfrm>
            <a:off x="731520" y="1463040"/>
            <a:ext cx="10698480" cy="4572000"/>
          </a:xfrm>
          <a:prstGeom prst="rect">
            <a:avLst/>
          </a:prstGeom>
          <a:noFill/>
        </p:spPr>
        <p:txBody>
          <a:bodyPr wrap="square">
            <a:spAutoFit/>
          </a:bodyPr>
          <a:lstStyle/>
          <a:p/>
          <a:p>
            <a:pPr>
              <a:spcBef>
                <a:spcPts val="1000"/>
              </a:spcBef>
              <a:defRPr sz="1800" b="1">
                <a:solidFill>
                  <a:srgbClr val="38BDF8"/>
                </a:solidFill>
              </a:defRPr>
            </a:pPr>
            <a:r>
              <a:t>System Performance Metrics:</a:t>
            </a:r>
          </a:p>
          <a:p>
            <a:pPr>
              <a:spcBef>
                <a:spcPts val="300"/>
              </a:spcBef>
              <a:defRPr sz="1400">
                <a:solidFill>
                  <a:srgbClr val="F8FAFC"/>
                </a:solidFill>
              </a:defRPr>
            </a:pPr>
            <a:r>
              <a:t>•  Intake Completion Rate: Measures the proportion of users completing onboarding forms without dropouts.</a:t>
            </a:r>
          </a:p>
          <a:p>
            <a:pPr>
              <a:spcBef>
                <a:spcPts val="300"/>
              </a:spcBef>
              <a:defRPr sz="1400">
                <a:solidFill>
                  <a:srgbClr val="F8FAFC"/>
                </a:solidFill>
              </a:defRPr>
            </a:pPr>
            <a:r>
              <a:t>•  Inference Latency: Measures LLM response delay (optimized below 1.5 seconds per chat turn using Groq hardware).</a:t>
            </a:r>
          </a:p>
          <a:p>
            <a:pPr>
              <a:spcBef>
                <a:spcPts val="300"/>
              </a:spcBef>
              <a:defRPr sz="1400">
                <a:solidFill>
                  <a:srgbClr val="F8FAFC"/>
                </a:solidFill>
              </a:defRPr>
            </a:pPr>
            <a:r>
              <a:t>•  Routing Accuracy: Evaluating the router's precision in assigning deficit/debt-heavy users to the Recovery node.</a:t>
            </a:r>
          </a:p>
          <a:p>
            <a:pPr>
              <a:spcBef>
                <a:spcPts val="1000"/>
              </a:spcBef>
              <a:defRPr sz="1800" b="1">
                <a:solidFill>
                  <a:srgbClr val="38BDF8"/>
                </a:solidFill>
              </a:defRPr>
            </a:pPr>
            <a:r>
              <a:t>System Robustness:</a:t>
            </a:r>
          </a:p>
          <a:p>
            <a:pPr>
              <a:spcBef>
                <a:spcPts val="300"/>
              </a:spcBef>
              <a:defRPr sz="1400">
                <a:solidFill>
                  <a:srgbClr val="F8FAFC"/>
                </a:solidFill>
              </a:defRPr>
            </a:pPr>
            <a:r>
              <a:t>•  Local Storage Fallback: Storing user credentials and chat history locally so session data persists across browser reloads.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22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sz="3200" b="1">
                <a:solidFill>
                  <a:srgbClr val="38BDF8"/>
                </a:solidFill>
                <a:latin typeface="Arial"/>
              </a:defRPr>
            </a:pPr>
            <a:r>
              <a:t>Tools and Resources:</a:t>
            </a:r>
          </a:p>
        </p:txBody>
      </p:sp>
      <p:sp>
        <p:nvSpPr>
          <p:cNvPr id="3" name="TextBox 2"/>
          <p:cNvSpPr txBox="1"/>
          <p:nvPr/>
        </p:nvSpPr>
        <p:spPr>
          <a:xfrm>
            <a:off x="731520" y="1463040"/>
            <a:ext cx="10698480" cy="4572000"/>
          </a:xfrm>
          <a:prstGeom prst="rect">
            <a:avLst/>
          </a:prstGeom>
          <a:noFill/>
        </p:spPr>
        <p:txBody>
          <a:bodyPr wrap="square">
            <a:spAutoFit/>
          </a:bodyPr>
          <a:lstStyle/>
          <a:p/>
          <a:p>
            <a:pPr>
              <a:spcBef>
                <a:spcPts val="1000"/>
              </a:spcBef>
              <a:defRPr sz="1800" b="1">
                <a:solidFill>
                  <a:srgbClr val="38BDF8"/>
                </a:solidFill>
              </a:defRPr>
            </a:pPr>
            <a:r>
              <a:t>LangGraph / Python SDK:</a:t>
            </a:r>
          </a:p>
          <a:p>
            <a:pPr>
              <a:spcBef>
                <a:spcPts val="300"/>
              </a:spcBef>
              <a:defRPr sz="1400">
                <a:solidFill>
                  <a:srgbClr val="F8FAFC"/>
                </a:solidFill>
              </a:defRPr>
            </a:pPr>
            <a:r>
              <a:t>•  StateGraph state-machine orchestrations controlling conversation logic flow.</a:t>
            </a:r>
          </a:p>
          <a:p>
            <a:pPr>
              <a:spcBef>
                <a:spcPts val="300"/>
              </a:spcBef>
              <a:defRPr sz="1400">
                <a:solidFill>
                  <a:srgbClr val="F8FAFC"/>
                </a:solidFill>
              </a:defRPr>
            </a:pPr>
            <a:r>
              <a:t>•  FastAPI backend to expose REST API endpoints for communication.</a:t>
            </a:r>
          </a:p>
          <a:p>
            <a:pPr>
              <a:spcBef>
                <a:spcPts val="1000"/>
              </a:spcBef>
              <a:defRPr sz="1800" b="1">
                <a:solidFill>
                  <a:srgbClr val="38BDF8"/>
                </a:solidFill>
              </a:defRPr>
            </a:pPr>
            <a:r>
              <a:t>Groq Cloud Platform:</a:t>
            </a:r>
          </a:p>
          <a:p>
            <a:pPr>
              <a:spcBef>
                <a:spcPts val="300"/>
              </a:spcBef>
              <a:defRPr sz="1400">
                <a:solidFill>
                  <a:srgbClr val="F8FAFC"/>
                </a:solidFill>
              </a:defRPr>
            </a:pPr>
            <a:r>
              <a:t>•  Serves high-speed Llama-3.3-70B model endpoints under minimal response latency.</a:t>
            </a:r>
          </a:p>
          <a:p>
            <a:pPr>
              <a:spcBef>
                <a:spcPts val="1000"/>
              </a:spcBef>
              <a:defRPr sz="1800" b="1">
                <a:solidFill>
                  <a:srgbClr val="38BDF8"/>
                </a:solidFill>
              </a:defRPr>
            </a:pPr>
            <a:r>
              <a:t>Frontend Web Stack:</a:t>
            </a:r>
          </a:p>
          <a:p>
            <a:pPr>
              <a:spcBef>
                <a:spcPts val="300"/>
              </a:spcBef>
              <a:defRPr sz="1400">
                <a:solidFill>
                  <a:srgbClr val="F8FAFC"/>
                </a:solidFill>
              </a:defRPr>
            </a:pPr>
            <a:r>
              <a:t>•  HTML5, CSS3, JavaScript (Vite framework) with glassmorphism layouts, Google fonts (Plus Jakarta Sans), and Marked.js library for plan formatting.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22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sz="3200" b="1">
                <a:solidFill>
                  <a:srgbClr val="38BDF8"/>
                </a:solidFill>
                <a:latin typeface="Arial"/>
              </a:defRPr>
            </a:pPr>
            <a:r>
              <a:t>Model Impact and Effectiveness:</a:t>
            </a:r>
          </a:p>
        </p:txBody>
      </p:sp>
      <p:sp>
        <p:nvSpPr>
          <p:cNvPr id="3" name="TextBox 2"/>
          <p:cNvSpPr txBox="1"/>
          <p:nvPr/>
        </p:nvSpPr>
        <p:spPr>
          <a:xfrm>
            <a:off x="731520" y="1463040"/>
            <a:ext cx="10698480" cy="4572000"/>
          </a:xfrm>
          <a:prstGeom prst="rect">
            <a:avLst/>
          </a:prstGeom>
          <a:noFill/>
        </p:spPr>
        <p:txBody>
          <a:bodyPr wrap="square">
            <a:spAutoFit/>
          </a:bodyPr>
          <a:lstStyle/>
          <a:p/>
          <a:p>
            <a:pPr>
              <a:spcBef>
                <a:spcPts val="1000"/>
              </a:spcBef>
              <a:defRPr sz="1800" b="1">
                <a:solidFill>
                  <a:srgbClr val="FBBF24"/>
                </a:solidFill>
              </a:defRPr>
            </a:pPr>
            <a:r>
              <a:t>Debt Restructuring &amp; Recovery:</a:t>
            </a:r>
          </a:p>
          <a:p>
            <a:pPr>
              <a:spcBef>
                <a:spcPts val="300"/>
              </a:spcBef>
              <a:defRPr sz="1400">
                <a:solidFill>
                  <a:srgbClr val="F8FAFC"/>
                </a:solidFill>
              </a:defRPr>
            </a:pPr>
            <a:r>
              <a:t>•  Identifies high debt-to-income warning signs early, directing users to immediate budgeting audits.</a:t>
            </a:r>
          </a:p>
          <a:p>
            <a:pPr>
              <a:spcBef>
                <a:spcPts val="1000"/>
              </a:spcBef>
              <a:defRPr sz="1800" b="1">
                <a:solidFill>
                  <a:srgbClr val="FBBF24"/>
                </a:solidFill>
              </a:defRPr>
            </a:pPr>
            <a:r>
              <a:t>Highly Efficient Onboarding:</a:t>
            </a:r>
          </a:p>
          <a:p>
            <a:pPr>
              <a:spcBef>
                <a:spcPts val="300"/>
              </a:spcBef>
              <a:defRPr sz="1400">
                <a:solidFill>
                  <a:srgbClr val="F8FAFC"/>
                </a:solidFill>
              </a:defRPr>
            </a:pPr>
            <a:r>
              <a:t>•  Collects parameters, validates data, evaluates risk, and produces a plan in under 60 seconds.</a:t>
            </a:r>
          </a:p>
          <a:p>
            <a:pPr>
              <a:spcBef>
                <a:spcPts val="1000"/>
              </a:spcBef>
              <a:defRPr sz="1800" b="1">
                <a:solidFill>
                  <a:srgbClr val="FBBF24"/>
                </a:solidFill>
              </a:defRPr>
            </a:pPr>
            <a:r>
              <a:t>Democratized and Scalable:</a:t>
            </a:r>
          </a:p>
          <a:p>
            <a:pPr>
              <a:spcBef>
                <a:spcPts val="300"/>
              </a:spcBef>
              <a:defRPr sz="1400">
                <a:solidFill>
                  <a:srgbClr val="F8FAFC"/>
                </a:solidFill>
              </a:defRPr>
            </a:pPr>
            <a:r>
              <a:t>•  Free access removes financial entry barriers, making wealth management blueprints accessible to all.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22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sz="3200" b="1">
                <a:solidFill>
                  <a:srgbClr val="38BDF8"/>
                </a:solidFill>
                <a:latin typeface="Arial"/>
              </a:defRPr>
            </a:pPr>
            <a:r>
              <a:t>Why It Will Work:</a:t>
            </a:r>
          </a:p>
        </p:txBody>
      </p:sp>
      <p:sp>
        <p:nvSpPr>
          <p:cNvPr id="3" name="TextBox 2"/>
          <p:cNvSpPr txBox="1"/>
          <p:nvPr/>
        </p:nvSpPr>
        <p:spPr>
          <a:xfrm>
            <a:off x="731520" y="1463040"/>
            <a:ext cx="10698480" cy="4572000"/>
          </a:xfrm>
          <a:prstGeom prst="rect">
            <a:avLst/>
          </a:prstGeom>
          <a:noFill/>
        </p:spPr>
        <p:txBody>
          <a:bodyPr wrap="square">
            <a:spAutoFit/>
          </a:bodyPr>
          <a:lstStyle/>
          <a:p/>
          <a:p>
            <a:pPr>
              <a:spcBef>
                <a:spcPts val="1000"/>
              </a:spcBef>
              <a:defRPr sz="1800" b="1">
                <a:solidFill>
                  <a:srgbClr val="38BDF8"/>
                </a:solidFill>
              </a:defRPr>
            </a:pPr>
            <a:r>
              <a:t>Data-Driven Insights:</a:t>
            </a:r>
          </a:p>
          <a:p>
            <a:pPr>
              <a:spcBef>
                <a:spcPts val="300"/>
              </a:spcBef>
              <a:defRPr sz="1400">
                <a:solidFill>
                  <a:srgbClr val="F8FAFC"/>
                </a:solidFill>
              </a:defRPr>
            </a:pPr>
            <a:r>
              <a:t>  Uses advanced cognitive models to analyze cash flows, liabilities, and risk metrics dynamically, uncovering issues missed by static templates.</a:t>
            </a:r>
          </a:p>
          <a:p>
            <a:pPr>
              <a:spcBef>
                <a:spcPts val="1000"/>
              </a:spcBef>
              <a:defRPr sz="1800" b="1">
                <a:solidFill>
                  <a:srgbClr val="38BDF8"/>
                </a:solidFill>
              </a:defRPr>
            </a:pPr>
            <a:r>
              <a:t>FastAPI Scalable Infrastructure:</a:t>
            </a:r>
          </a:p>
          <a:p>
            <a:pPr>
              <a:spcBef>
                <a:spcPts val="300"/>
              </a:spcBef>
              <a:defRPr sz="1400">
                <a:solidFill>
                  <a:srgbClr val="F8FAFC"/>
                </a:solidFill>
              </a:defRPr>
            </a:pPr>
            <a:r>
              <a:t>  Robust backend infrastructure that supports high-speed user queries, secure CRM logging, and smooth local state management.</a:t>
            </a:r>
          </a:p>
          <a:p>
            <a:pPr>
              <a:spcBef>
                <a:spcPts val="1000"/>
              </a:spcBef>
              <a:defRPr sz="1800" b="1">
                <a:solidFill>
                  <a:srgbClr val="38BDF8"/>
                </a:solidFill>
              </a:defRPr>
            </a:pPr>
            <a:r>
              <a:t>Interactive User Feedback Loop:</a:t>
            </a:r>
          </a:p>
          <a:p>
            <a:pPr>
              <a:spcBef>
                <a:spcPts val="300"/>
              </a:spcBef>
              <a:defRPr sz="1400">
                <a:solidFill>
                  <a:srgbClr val="F8FAFC"/>
                </a:solidFill>
              </a:defRPr>
            </a:pPr>
            <a:r>
              <a:t>  The glassmorphic dashboard with live surplus calculation progress bars creates an engaging, visual, and highly premium tool.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22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sz="3200" b="1">
                <a:solidFill>
                  <a:srgbClr val="38BDF8"/>
                </a:solidFill>
                <a:latin typeface="Arial"/>
              </a:defRPr>
            </a:pPr>
            <a:r>
              <a:t>Results or Outcome:</a:t>
            </a:r>
          </a:p>
        </p:txBody>
      </p:sp>
      <p:sp>
        <p:nvSpPr>
          <p:cNvPr id="3" name="TextBox 2"/>
          <p:cNvSpPr txBox="1"/>
          <p:nvPr/>
        </p:nvSpPr>
        <p:spPr>
          <a:xfrm>
            <a:off x="731520" y="1463040"/>
            <a:ext cx="10698480" cy="4572000"/>
          </a:xfrm>
          <a:prstGeom prst="rect">
            <a:avLst/>
          </a:prstGeom>
          <a:noFill/>
        </p:spPr>
        <p:txBody>
          <a:bodyPr wrap="square">
            <a:spAutoFit/>
          </a:bodyPr>
          <a:lstStyle/>
          <a:p/>
          <a:p>
            <a:pPr>
              <a:defRPr sz="2000" b="1">
                <a:solidFill>
                  <a:srgbClr val="38BDF8"/>
                </a:solidFill>
              </a:defRPr>
            </a:pPr>
            <a:r>
              <a:t>System Output &amp; Trace Log:</a:t>
            </a:r>
          </a:p>
          <a:p>
            <a:pPr>
              <a:spcBef>
                <a:spcPts val="600"/>
              </a:spcBef>
              <a:defRPr sz="1500">
                <a:solidFill>
                  <a:srgbClr val="F8FAFC"/>
                </a:solidFill>
              </a:defRPr>
            </a:pPr>
            <a:r>
              <a:t>The StateGraph maps execution trajectories dynamically. If variables are missing, the agent initiates conversational loops. Once intake is complete, it invokes the adaptive router to compute surplus, assign risk tolerance, and output a detailed wealth audit.</a:t>
            </a:r>
          </a:p>
          <a:p>
            <a:pPr>
              <a:spcBef>
                <a:spcPts val="1600"/>
              </a:spcBef>
              <a:defRPr sz="2000" b="1">
                <a:solidFill>
                  <a:srgbClr val="FBBF24"/>
                </a:solidFill>
              </a:defRPr>
            </a:pPr>
            <a:r>
              <a:t>Sample Execution Log Format:</a:t>
            </a:r>
          </a:p>
          <a:p>
            <a:pPr>
              <a:spcBef>
                <a:spcPts val="400"/>
              </a:spcBef>
              <a:defRPr sz="1400">
                <a:solidFill>
                  <a:srgbClr val="94A3B8"/>
                </a:solidFill>
              </a:defRPr>
            </a:pPr>
            <a:r>
              <a:t>Date, Client Name, Status, Risk Profile, Action Taken</a:t>
            </a:r>
            <a:br/>
            <a:r>
              <a:t>19-07-2026, Tanmay, surplus, high, Success - Plan Generated &amp; Dispatched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22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sz="3200" b="1">
                <a:solidFill>
                  <a:srgbClr val="38BDF8"/>
                </a:solidFill>
                <a:latin typeface="Arial"/>
              </a:defRPr>
            </a:pPr>
            <a:r>
              <a:t>Deployed Model Interface:</a:t>
            </a:r>
          </a:p>
        </p:txBody>
      </p:sp>
      <p:sp>
        <p:nvSpPr>
          <p:cNvPr id="3" name="TextBox 2"/>
          <p:cNvSpPr txBox="1"/>
          <p:nvPr/>
        </p:nvSpPr>
        <p:spPr>
          <a:xfrm>
            <a:off x="731520" y="1463040"/>
            <a:ext cx="10698480" cy="4572000"/>
          </a:xfrm>
          <a:prstGeom prst="rect">
            <a:avLst/>
          </a:prstGeom>
          <a:noFill/>
        </p:spPr>
        <p:txBody>
          <a:bodyPr wrap="square">
            <a:spAutoFit/>
          </a:bodyPr>
          <a:lstStyle/>
          <a:p/>
          <a:p>
            <a:pPr>
              <a:defRPr sz="2000" b="1">
                <a:solidFill>
                  <a:srgbClr val="38BDF8"/>
                </a:solidFill>
              </a:defRPr>
            </a:pPr>
            <a:r>
              <a:t>The Client Onboarding UI Form:</a:t>
            </a:r>
          </a:p>
          <a:p>
            <a:pPr>
              <a:spcBef>
                <a:spcPts val="600"/>
              </a:spcBef>
              <a:defRPr sz="1500">
                <a:solidFill>
                  <a:srgbClr val="F8FAFC"/>
                </a:solidFill>
              </a:defRPr>
            </a:pPr>
            <a:r>
              <a:t>Features a premium, glassmorphic layout with structured input boxes: Full Name, Age, Monthly Income, Monthly Expenses, and Overall Debt. It is built to capture variables cleanly in a dual-column screen workspace, with horizontal radio pills for risk level configurations.</a:t>
            </a:r>
          </a:p>
          <a:p>
            <a:pPr>
              <a:spcBef>
                <a:spcPts val="1600"/>
              </a:spcBef>
              <a:defRPr sz="2000" b="1">
                <a:solidFill>
                  <a:srgbClr val="FBBF24"/>
                </a:solidFill>
              </a:defRPr>
            </a:pPr>
            <a:r>
              <a:t>Live Calculation Features:</a:t>
            </a:r>
          </a:p>
          <a:p>
            <a:pPr>
              <a:spcBef>
                <a:spcPts val="400"/>
              </a:spcBef>
              <a:defRPr sz="1400">
                <a:solidFill>
                  <a:srgbClr val="F8FAFC"/>
                </a:solidFill>
              </a:defRPr>
            </a:pPr>
            <a:r>
              <a:t>• Real-time surplus calculations: Income - Expenses</a:t>
            </a:r>
            <a:br/>
            <a:r>
              <a:t>• Interactive savings rate indicator gauge (adjusts color codes dynamically)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22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sz="3200" b="1">
                <a:solidFill>
                  <a:srgbClr val="38BDF8"/>
                </a:solidFill>
                <a:latin typeface="Arial"/>
              </a:defRPr>
            </a:pPr>
            <a:r>
              <a:t>Advisory Output of Model:</a:t>
            </a:r>
          </a:p>
        </p:txBody>
      </p:sp>
      <p:sp>
        <p:nvSpPr>
          <p:cNvPr id="3" name="TextBox 2"/>
          <p:cNvSpPr txBox="1"/>
          <p:nvPr/>
        </p:nvSpPr>
        <p:spPr>
          <a:xfrm>
            <a:off x="731520" y="1463040"/>
            <a:ext cx="10698480" cy="4572000"/>
          </a:xfrm>
          <a:prstGeom prst="rect">
            <a:avLst/>
          </a:prstGeom>
          <a:noFill/>
        </p:spPr>
        <p:txBody>
          <a:bodyPr wrap="square">
            <a:spAutoFit/>
          </a:bodyPr>
          <a:lstStyle/>
          <a:p/>
          <a:p>
            <a:pPr>
              <a:defRPr sz="2000" b="1">
                <a:solidFill>
                  <a:srgbClr val="38BDF8"/>
                </a:solidFill>
              </a:defRPr>
            </a:pPr>
            <a:r>
              <a:t>The Tactical Blueprint Plan Bubble:</a:t>
            </a:r>
          </a:p>
          <a:p>
            <a:pPr>
              <a:spcBef>
                <a:spcPts val="600"/>
              </a:spcBef>
              <a:defRPr sz="1500">
                <a:solidFill>
                  <a:srgbClr val="F8FAFC"/>
                </a:solidFill>
              </a:defRPr>
            </a:pPr>
            <a:r>
              <a:t>Here is the structured markdown advisory blueprint generated dynamically for the user: </a:t>
            </a:r>
          </a:p>
          <a:p>
            <a:pPr>
              <a:spcBef>
                <a:spcPts val="1000"/>
              </a:spcBef>
              <a:defRPr sz="1300">
                <a:solidFill>
                  <a:srgbClr val="94A3B8"/>
                </a:solidFill>
              </a:defRPr>
            </a:pPr>
            <a:r>
              <a:t>### [Advisor Audit]</a:t>
            </a:r>
            <a:br/>
            <a:r>
              <a:t>• Analysis of rent sustainability, emergency fund, and liabilities.</a:t>
            </a:r>
            <a:br/>
            <a:r>
              <a:t>### [Provisional Tactical Blueprint]</a:t>
            </a:r>
            <a:br/>
            <a:r>
              <a:t>• Allocation targets (safe/growth ratio)</a:t>
            </a:r>
            <a:br/>
            <a:r>
              <a:t>• Debt repayment roadmap &amp; EMIs consolidation suggestions</a:t>
            </a:r>
            <a:br/>
            <a:r>
              <a:t>• Health/Life coverage scaling targets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22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sz="3200" b="1">
                <a:solidFill>
                  <a:srgbClr val="38BDF8"/>
                </a:solidFill>
                <a:latin typeface="Arial"/>
              </a:defRPr>
            </a:pPr>
            <a:r>
              <a:t>Link to Advisory System:</a:t>
            </a:r>
          </a:p>
        </p:txBody>
      </p:sp>
      <p:sp>
        <p:nvSpPr>
          <p:cNvPr id="3" name="TextBox 2"/>
          <p:cNvSpPr txBox="1"/>
          <p:nvPr/>
        </p:nvSpPr>
        <p:spPr>
          <a:xfrm>
            <a:off x="731520" y="1463040"/>
            <a:ext cx="10698480" cy="4572000"/>
          </a:xfrm>
          <a:prstGeom prst="rect">
            <a:avLst/>
          </a:prstGeom>
          <a:noFill/>
        </p:spPr>
        <p:txBody>
          <a:bodyPr wrap="square">
            <a:spAutoFit/>
          </a:bodyPr>
          <a:lstStyle/>
          <a:p/>
          <a:p>
            <a:pPr>
              <a:defRPr sz="2200" b="1">
                <a:solidFill>
                  <a:srgbClr val="38BDF8"/>
                </a:solidFill>
              </a:defRPr>
            </a:pPr>
            <a:r>
              <a:t>Direct Project Endpoints:</a:t>
            </a:r>
          </a:p>
          <a:p>
            <a:pPr>
              <a:spcBef>
                <a:spcPts val="1200"/>
              </a:spcBef>
              <a:defRPr sz="1600">
                <a:solidFill>
                  <a:srgbClr val="F8FAFC"/>
                </a:solidFill>
              </a:defRPr>
            </a:pPr>
            <a:r>
              <a:t>●  FastAPI API Server Link:</a:t>
            </a:r>
            <a:br/>
            <a:r>
              <a:t>   http://127.0.0.1:8000/api/advise</a:t>
            </a:r>
          </a:p>
          <a:p>
            <a:pPr>
              <a:spcBef>
                <a:spcPts val="1400"/>
              </a:spcBef>
              <a:defRPr sz="1600">
                <a:solidFill>
                  <a:srgbClr val="F8FAFC"/>
                </a:solidFill>
              </a:defRPr>
            </a:pPr>
            <a:r>
              <a:t>●  Interactive Web Dashboard Link:</a:t>
            </a:r>
            <a:br/>
            <a:r>
              <a:t>   http://127.0.0.1:8000/</a:t>
            </a:r>
          </a:p>
          <a:p>
            <a:pPr>
              <a:spcBef>
                <a:spcPts val="1400"/>
              </a:spcBef>
              <a:defRPr sz="1600">
                <a:solidFill>
                  <a:srgbClr val="F8FAFC"/>
                </a:solidFill>
              </a:defRPr>
            </a:pPr>
            <a:r>
              <a:t>●  Project Repository:</a:t>
            </a:r>
            <a:br/>
            <a:r>
              <a:t>   https://github.com/financial-advisory-agent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22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sz="3200" b="1">
                <a:solidFill>
                  <a:srgbClr val="38BDF8"/>
                </a:solidFill>
                <a:latin typeface="Arial"/>
              </a:defRPr>
            </a:pPr>
            <a:r>
              <a:t>Conclusion:</a:t>
            </a:r>
          </a:p>
        </p:txBody>
      </p:sp>
      <p:sp>
        <p:nvSpPr>
          <p:cNvPr id="3" name="TextBox 2"/>
          <p:cNvSpPr txBox="1"/>
          <p:nvPr/>
        </p:nvSpPr>
        <p:spPr>
          <a:xfrm>
            <a:off x="731520" y="1463040"/>
            <a:ext cx="10698480" cy="4572000"/>
          </a:xfrm>
          <a:prstGeom prst="rect">
            <a:avLst/>
          </a:prstGeom>
          <a:noFill/>
        </p:spPr>
        <p:txBody>
          <a:bodyPr wrap="square">
            <a:spAutoFit/>
          </a:bodyPr>
          <a:lstStyle/>
          <a:p/>
          <a:p>
            <a:pPr>
              <a:defRPr sz="2000" b="1">
                <a:solidFill>
                  <a:srgbClr val="38BDF8"/>
                </a:solidFill>
              </a:defRPr>
            </a:pPr>
            <a:r>
              <a:t>Summary:</a:t>
            </a:r>
          </a:p>
          <a:p>
            <a:pPr>
              <a:spcBef>
                <a:spcPts val="600"/>
              </a:spcBef>
              <a:defRPr sz="1500">
                <a:solidFill>
                  <a:srgbClr val="F8FAFC"/>
                </a:solidFill>
              </a:defRPr>
            </a:pPr>
            <a:r>
              <a:t>• Successfully built and deployed a dynamic multi-agent LangGraph personal financial advisor.</a:t>
            </a:r>
            <a:br/>
            <a:r>
              <a:t>• Incorporated a glassmorphism frontend dashboard with real-time computations and low-latency API response.</a:t>
            </a:r>
          </a:p>
          <a:p>
            <a:pPr>
              <a:spcBef>
                <a:spcPts val="1600"/>
              </a:spcBef>
              <a:defRPr sz="2000" b="1">
                <a:solidFill>
                  <a:srgbClr val="FBBF24"/>
                </a:solidFill>
              </a:defRPr>
            </a:pPr>
            <a:r>
              <a:t>Future Work:</a:t>
            </a:r>
          </a:p>
          <a:p>
            <a:pPr>
              <a:spcBef>
                <a:spcPts val="600"/>
              </a:spcBef>
              <a:defRPr sz="1500">
                <a:solidFill>
                  <a:srgbClr val="F8FAFC"/>
                </a:solidFill>
              </a:defRPr>
            </a:pPr>
            <a:r>
              <a:t>• Connect the agent to Open Banking APIs to automatically pull live transaction statements.</a:t>
            </a:r>
            <a:br/>
            <a:r>
              <a:t>• Develop automated investment execution nodes linked to low-cost mutual fund API endpoints.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