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8FAFC"/>
                </a:solidFill>
                <a:latin typeface="Arial"/>
              </a:defRPr>
            </a:pPr>
            <a:r>
              <a:t>BIT BY BIT WEALTH</a:t>
            </a:r>
          </a:p>
          <a:p>
            <a:pPr algn="l">
              <a:spcBef>
                <a:spcPts val="1400"/>
              </a:spcBef>
              <a:defRPr sz="2200">
                <a:solidFill>
                  <a:srgbClr val="38BDF8"/>
                </a:solidFill>
                <a:latin typeface="Arial"/>
              </a:defRPr>
            </a:pPr>
            <a:r>
              <a:t>Autonomous, Cognitive Wealth &amp; Budget Planning Pipelines</a:t>
            </a:r>
          </a:p>
          <a:p>
            <a:pPr algn="l">
              <a:spcBef>
                <a:spcPts val="30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Prepared by Tanmay  |  V1.0  |  Powered by LangGraph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sz="2200" b="1">
                <a:solidFill>
                  <a:srgbClr val="38BDF8"/>
                </a:solidFill>
              </a:defRPr>
            </a:pPr>
            <a:r>
              <a:t>•  High Professional Cost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Human wealth managers charge thousands in fees, locking out the average earner who needs advice the most.</a:t>
            </a:r>
          </a:p>
          <a:p>
            <a:pPr>
              <a:spcBef>
                <a:spcPts val="1600"/>
              </a:spcBef>
              <a:defRPr sz="2200" b="1">
                <a:solidFill>
                  <a:srgbClr val="38BDF8"/>
                </a:solidFill>
              </a:defRPr>
            </a:pPr>
            <a:r>
              <a:t>•  Static, Dead Blueprints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Traditional financial plans are static templates or PDFs. They fail to adapt the moment life expenses, rent, or income levels shift.</a:t>
            </a:r>
          </a:p>
          <a:p>
            <a:pPr>
              <a:spcBef>
                <a:spcPts val="1600"/>
              </a:spcBef>
              <a:defRPr sz="2200" b="1">
                <a:solidFill>
                  <a:srgbClr val="38BDF8"/>
                </a:solidFill>
              </a:defRPr>
            </a:pPr>
            <a:r>
              <a:t>•  The EMI &amp; Debt Loop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Millions struggle with credit card liabilities and EMIs without a clear, dynamic cash flow calculator showing how to restore surplus.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sz="2200" b="1">
                <a:solidFill>
                  <a:srgbClr val="FBBF24"/>
                </a:solidFill>
              </a:defRPr>
            </a:pPr>
            <a:r>
              <a:t>✔  Cognitive LangGraph Flow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An interactive AI agent interviews you to map income, expenses, and overall debt in a natural conversational flow.</a:t>
            </a:r>
          </a:p>
          <a:p>
            <a:pPr>
              <a:spcBef>
                <a:spcPts val="1600"/>
              </a:spcBef>
              <a:defRPr sz="2200" b="1">
                <a:solidFill>
                  <a:srgbClr val="FBBF24"/>
                </a:solidFill>
              </a:defRPr>
            </a:pPr>
            <a:r>
              <a:t>✔  Adaptive Graph Nodes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Automatically routes profiles (intake node) to specialized expert planning pathways: Recovery, Conservative, or Aggressive growth.</a:t>
            </a:r>
          </a:p>
          <a:p>
            <a:pPr>
              <a:spcBef>
                <a:spcPts val="1600"/>
              </a:spcBef>
              <a:defRPr sz="2200" b="1">
                <a:solidFill>
                  <a:srgbClr val="FBBF24"/>
                </a:solidFill>
              </a:defRPr>
            </a:pPr>
            <a:r>
              <a:t>✔  Live Projections &amp; Blueprints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A real-time savings rate gauge displays cash flow health instantly, outputting tailored tactical audits logged directly to CRM.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t>Target Segments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</a:defRPr>
            </a:pPr>
            <a:r>
              <a:t>• Salaried young professionals (22-35) looking to optimize monthly cash flow.</a:t>
            </a:r>
            <a:br/>
            <a:r>
              <a:t>• Households with outstanding EMIs and credit card debt requiring a structured path to recovery.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BBF24"/>
                </a:solidFill>
              </a:defRPr>
            </a:pPr>
            <a:r>
              <a:t>Early Adopters</a:t>
            </a:r>
          </a:p>
          <a:p>
            <a:pPr>
              <a:spcBef>
                <a:spcPts val="1200"/>
              </a:spcBef>
              <a:defRPr sz="1800">
                <a:solidFill>
                  <a:srgbClr val="F8FAFC"/>
                </a:solidFill>
              </a:defRPr>
            </a:pPr>
            <a:r>
              <a:t>• Tech-savvy professionals and Remote developers who prefer instant, automated chat tools over booking calls with expensive human financial planners.</a:t>
            </a:r>
            <a:br/>
            <a:r>
              <a:t>• Users who value privacy and absolute control over their numbers.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HOW WE MAKE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sz="2200" b="1">
                <a:solidFill>
                  <a:srgbClr val="38BDF8"/>
                </a:solidFill>
              </a:defRPr>
            </a:pPr>
            <a:r>
              <a:t>💰  Freemium Subscription (SaaS)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First budget audit, live cash flow calculator, and basic chat tips are 100% free. Users subscribe for ₹299/month to sync live bank accounts, monitor portfolios, and receive continuous daily checks.</a:t>
            </a:r>
          </a:p>
          <a:p>
            <a:pPr>
              <a:spcBef>
                <a:spcPts val="2000"/>
              </a:spcBef>
              <a:defRPr sz="2200" b="1">
                <a:solidFill>
                  <a:srgbClr val="38BDF8"/>
                </a:solidFill>
              </a:defRPr>
            </a:pPr>
            <a:r>
              <a:t>💰  Finder's Fees &amp; Commissions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Earn passive commission fees by connecting users directly to trusted low-cost platforms (e.g. Zerodha) or low-interest debt consolidation options built into their plans.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UNFAIR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sz="2200" b="1">
                <a:solidFill>
                  <a:srgbClr val="FBBF24"/>
                </a:solidFill>
              </a:defRPr>
            </a:pPr>
            <a:r>
              <a:t>⚡  A Smart AI that Adapts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Our model dynamically shifts direction (recovery vs aggressive growth nodes) mid-flow as balance sheets update, bypassing rigid, static checklists.</a:t>
            </a:r>
          </a:p>
          <a:p>
            <a:pPr>
              <a:spcBef>
                <a:spcPts val="2000"/>
              </a:spcBef>
              <a:defRPr sz="2200" b="1">
                <a:solidFill>
                  <a:srgbClr val="FBBF24"/>
                </a:solidFill>
              </a:defRPr>
            </a:pPr>
            <a:r>
              <a:t>⚡  Natural, Jargon-Free Dialogues</a:t>
            </a:r>
          </a:p>
          <a:p>
            <a:pPr>
              <a:spcBef>
                <a:spcPts val="400"/>
              </a:spcBef>
              <a:defRPr sz="1600">
                <a:solidFill>
                  <a:srgbClr val="F8FAFC"/>
                </a:solidFill>
              </a:defRPr>
            </a:pPr>
            <a:r>
              <a:t>Optimized, low-latency prompts force the model to stay extremely concise, avoiding standard AI fluff and communicating like a sharp wealth manager.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400"/>
              </a:spcBef>
              <a:defRPr sz="2000" b="1">
                <a:solidFill>
                  <a:srgbClr val="38BDF8"/>
                </a:solidFill>
              </a:defRPr>
            </a:pPr>
            <a:r>
              <a:t>Step 1: Intake &amp; Parse</a:t>
            </a:r>
          </a:p>
          <a:p>
            <a:pPr>
              <a:spcBef>
                <a:spcPts val="200"/>
              </a:spcBef>
              <a:defRPr sz="1500">
                <a:solidFill>
                  <a:srgbClr val="F8FAFC"/>
                </a:solidFill>
              </a:defRPr>
            </a:pPr>
            <a:r>
              <a:t>Captures Name, Age, Income, Expenses, and Overall Debt via web dashboard inputs and dynamic validation rules.</a:t>
            </a:r>
          </a:p>
          <a:p>
            <a:pPr>
              <a:spcBef>
                <a:spcPts val="1400"/>
              </a:spcBef>
              <a:defRPr sz="2000" b="1">
                <a:solidFill>
                  <a:srgbClr val="38BDF8"/>
                </a:solidFill>
              </a:defRPr>
            </a:pPr>
            <a:r>
              <a:t>Step 2: Cognitive Routing Node</a:t>
            </a:r>
          </a:p>
          <a:p>
            <a:pPr>
              <a:spcBef>
                <a:spcPts val="200"/>
              </a:spcBef>
              <a:defRPr sz="1500">
                <a:solidFill>
                  <a:srgbClr val="F8FAFC"/>
                </a:solidFill>
              </a:defRPr>
            </a:pPr>
            <a:r>
              <a:t>Graph routes the profile to specific nodes: deficit/debt goes to Recovery; positive metrics with low risk goes to Conservative; high surplus/tolerance goes to Aggressive.</a:t>
            </a:r>
          </a:p>
          <a:p>
            <a:pPr>
              <a:spcBef>
                <a:spcPts val="1400"/>
              </a:spcBef>
              <a:defRPr sz="2000" b="1">
                <a:solidFill>
                  <a:srgbClr val="38BDF8"/>
                </a:solidFill>
              </a:defRPr>
            </a:pPr>
            <a:r>
              <a:t>Step 3: Tactical Plan Generation</a:t>
            </a:r>
          </a:p>
          <a:p>
            <a:pPr>
              <a:spcBef>
                <a:spcPts val="200"/>
              </a:spcBef>
              <a:defRPr sz="1500">
                <a:solidFill>
                  <a:srgbClr val="F8FAFC"/>
                </a:solidFill>
              </a:defRPr>
            </a:pPr>
            <a:r>
              <a:t>The assigned agent conducts an audit, drafts structural advice (asset allocation, EMI reduction, emergency funds), writes changes to the CRM logs, and returns the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8BDF8"/>
                </a:solidFill>
                <a:latin typeface="Arial"/>
              </a:defRPr>
            </a:pPr>
            <a:r>
              <a:t>Bit By Bit Wealth</a:t>
            </a:r>
          </a:p>
          <a:p>
            <a:pPr>
              <a:spcBef>
                <a:spcPts val="1400"/>
              </a:spcBef>
              <a:defRPr sz="2000">
                <a:solidFill>
                  <a:srgbClr val="F8FAFC"/>
                </a:solidFill>
              </a:defRPr>
            </a:pPr>
            <a:r>
              <a:t>Empowering every earner to automate their financial future, bit by bit.</a:t>
            </a:r>
          </a:p>
          <a:p>
            <a:pPr>
              <a:spcBef>
                <a:spcPts val="4000"/>
              </a:spcBef>
              <a:defRPr sz="1400">
                <a:solidFill>
                  <a:srgbClr val="94A3B8"/>
                </a:solidFill>
              </a:defRPr>
            </a:pPr>
            <a:r>
              <a:t>Contact: Tanmay  |  GitHub: @financial-advisory-agent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